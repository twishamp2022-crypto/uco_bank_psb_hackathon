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9AF"/>
    <a:srgbClr val="2487B2"/>
    <a:srgbClr val="F7FF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929F9F4-4A8F-4326-A1B4-22849713DDAB}" styleName="Dark Style 1 –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6376"/>
  </p:normalViewPr>
  <p:slideViewPr>
    <p:cSldViewPr snapToGrid="0">
      <p:cViewPr varScale="1">
        <p:scale>
          <a:sx n="122" d="100"/>
          <a:sy n="122" d="100"/>
        </p:scale>
        <p:origin x="22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0E592-3750-D94D-AE00-874003F18965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AE909-1641-D040-B927-BF929B617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990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0E592-3750-D94D-AE00-874003F18965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AE909-1641-D040-B927-BF929B617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82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0E592-3750-D94D-AE00-874003F18965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AE909-1641-D040-B927-BF929B617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715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0E592-3750-D94D-AE00-874003F18965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AE909-1641-D040-B927-BF929B617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705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0E592-3750-D94D-AE00-874003F18965}" type="datetimeFigureOut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AE909-1641-D040-B927-BF929B617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521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0E592-3750-D94D-AE00-874003F18965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AE909-1641-D040-B927-BF929B617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94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0E592-3750-D94D-AE00-874003F18965}" type="datetimeFigureOut">
              <a:rPr lang="en-US" smtClean="0"/>
              <a:t>4/29/26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AE909-1641-D040-B927-BF929B617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575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0E592-3750-D94D-AE00-874003F18965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AE909-1641-D040-B927-BF929B617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98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0E592-3750-D94D-AE00-874003F18965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AE909-1641-D040-B927-BF929B617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82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0E592-3750-D94D-AE00-874003F18965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AE909-1641-D040-B927-BF929B617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311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0E592-3750-D94D-AE00-874003F18965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AE909-1641-D040-B927-BF929B617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807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9C0E592-3750-D94D-AE00-874003F18965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09AE909-1641-D040-B927-BF929B617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4695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5E712-2368-FFA2-61C3-D5BCA6C46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952" y="291552"/>
            <a:ext cx="11782096" cy="1325563"/>
          </a:xfrm>
        </p:spPr>
        <p:txBody>
          <a:bodyPr>
            <a:normAutofit/>
          </a:bodyPr>
          <a:lstStyle/>
          <a:p>
            <a:r>
              <a:rPr lang="en-IN" sz="3600" u="sng" dirty="0">
                <a:latin typeface="Ayuthaya" pitchFamily="2" charset="-34"/>
                <a:ea typeface="Ayuthaya" pitchFamily="2" charset="-34"/>
                <a:cs typeface="Ayuthaya" pitchFamily="2" charset="-34"/>
              </a:rPr>
              <a:t>AI Approach:</a:t>
            </a:r>
            <a:r>
              <a:rPr lang="en-IN" sz="3600" dirty="0">
                <a:latin typeface="Ayuthaya" pitchFamily="2" charset="-34"/>
                <a:ea typeface="Ayuthaya" pitchFamily="2" charset="-34"/>
                <a:cs typeface="Ayuthaya" pitchFamily="2" charset="-34"/>
              </a:rPr>
              <a:t> </a:t>
            </a:r>
            <a:r>
              <a:rPr lang="en-IN" sz="3600" u="sng" dirty="0" err="1">
                <a:latin typeface="Ayuthaya" pitchFamily="2" charset="-34"/>
                <a:ea typeface="Ayuthaya" pitchFamily="2" charset="-34"/>
                <a:cs typeface="Ayuthaya" pitchFamily="2" charset="-34"/>
              </a:rPr>
              <a:t>Behavioral</a:t>
            </a:r>
            <a:r>
              <a:rPr lang="en-IN" sz="3600" u="sng" dirty="0">
                <a:latin typeface="Ayuthaya" pitchFamily="2" charset="-34"/>
                <a:ea typeface="Ayuthaya" pitchFamily="2" charset="-34"/>
                <a:cs typeface="Ayuthaya" pitchFamily="2" charset="-34"/>
              </a:rPr>
              <a:t> &amp; Alternative Credit Signals</a:t>
            </a:r>
            <a:endParaRPr lang="en-US" sz="3600" u="sng" dirty="0">
              <a:latin typeface="Ayuthaya" pitchFamily="2" charset="-34"/>
              <a:ea typeface="Ayuthaya" pitchFamily="2" charset="-34"/>
              <a:cs typeface="Ayuthaya" pitchFamily="2" charset="-34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0864764-9C72-3AB2-D4D2-26932BCA5D9D}"/>
              </a:ext>
            </a:extLst>
          </p:cNvPr>
          <p:cNvGrpSpPr/>
          <p:nvPr/>
        </p:nvGrpSpPr>
        <p:grpSpPr>
          <a:xfrm>
            <a:off x="204950" y="1837815"/>
            <a:ext cx="6248400" cy="4060258"/>
            <a:chOff x="204950" y="1825060"/>
            <a:chExt cx="5640357" cy="3493174"/>
          </a:xfrm>
        </p:grpSpPr>
        <p:sp>
          <p:nvSpPr>
            <p:cNvPr id="26" name="Round Diagonal Corner of Rectangle 25">
              <a:extLst>
                <a:ext uri="{FF2B5EF4-FFF2-40B4-BE49-F238E27FC236}">
                  <a16:creationId xmlns:a16="http://schemas.microsoft.com/office/drawing/2014/main" id="{D0976209-8EEB-EF27-6144-B3EAD7CE99F0}"/>
                </a:ext>
              </a:extLst>
            </p:cNvPr>
            <p:cNvSpPr/>
            <p:nvPr/>
          </p:nvSpPr>
          <p:spPr>
            <a:xfrm flipH="1">
              <a:off x="204950" y="1840508"/>
              <a:ext cx="5640357" cy="3477726"/>
            </a:xfrm>
            <a:prstGeom prst="round2Diag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2">
              <a:extLst>
                <a:ext uri="{FF2B5EF4-FFF2-40B4-BE49-F238E27FC236}">
                  <a16:creationId xmlns:a16="http://schemas.microsoft.com/office/drawing/2014/main" id="{0436B50A-F817-6888-69D8-A371094FC8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669" y="1825060"/>
              <a:ext cx="5578520" cy="32078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285750" marR="0" lvl="0" indent="-28575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</a:rPr>
                <a:t>No reliance on traditional credit history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</a:rPr>
                <a:t>Uses </a:t>
              </a:r>
              <a:r>
                <a:rPr kumimoji="0" lang="en-US" altLang="en-US" sz="2000" b="1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</a:rPr>
                <a:t>behavioral, financial, and stability signals</a:t>
              </a:r>
              <a:endPara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endParaRPr>
            </a:p>
            <a:p>
              <a:pPr marL="285750" marR="0" lvl="0" indent="-28575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</a:rPr>
                <a:t>Key inputs: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</a:rPr>
                <a:t>Bill payment consistency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</a:rPr>
                <a:t>Transaction &amp; spending patterns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</a:rPr>
                <a:t>Location stability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</a:rPr>
                <a:t>Bank balance &amp; cash flow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</a:pPr>
              <a:r>
                <a:rPr kumimoji="0" lang="en-US" altLang="en-US" sz="2000" b="1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</a:rPr>
                <a:t>Seasonal income modeling</a:t>
              </a: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</a:rPr>
                <a:t> for informal workers</a:t>
              </a:r>
            </a:p>
          </p:txBody>
        </p:sp>
      </p:grpSp>
      <p:sp>
        <p:nvSpPr>
          <p:cNvPr id="9" name="Rectangle 5">
            <a:extLst>
              <a:ext uri="{FF2B5EF4-FFF2-40B4-BE49-F238E27FC236}">
                <a16:creationId xmlns:a16="http://schemas.microsoft.com/office/drawing/2014/main" id="{71F7DAC6-0F21-4E01-D59B-6FB50DD32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554" y="6334780"/>
            <a:ext cx="85748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kayaKanadaka" panose="02010502080401010103" pitchFamily="2" charset="77"/>
                <a:cs typeface="AkayaKanadaka" panose="02010502080401010103" pitchFamily="2" charset="77"/>
              </a:rPr>
              <a:t>“Creditworthiness is inferred from behavior, not history.”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222B4F8-C2CD-7409-CDC5-DBFF2CCBFEA6}"/>
              </a:ext>
            </a:extLst>
          </p:cNvPr>
          <p:cNvGrpSpPr/>
          <p:nvPr/>
        </p:nvGrpSpPr>
        <p:grpSpPr>
          <a:xfrm>
            <a:off x="7525407" y="1617115"/>
            <a:ext cx="3857296" cy="4151586"/>
            <a:chOff x="7546428" y="1397876"/>
            <a:chExt cx="3857296" cy="4151586"/>
          </a:xfrm>
        </p:grpSpPr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470D0740-9639-AB19-84F3-E48A4E6558A6}"/>
                </a:ext>
              </a:extLst>
            </p:cNvPr>
            <p:cNvSpPr/>
            <p:nvPr/>
          </p:nvSpPr>
          <p:spPr>
            <a:xfrm>
              <a:off x="7546428" y="1397876"/>
              <a:ext cx="3857296" cy="4151586"/>
            </a:xfrm>
            <a:prstGeom prst="roundRect">
              <a:avLst/>
            </a:prstGeom>
            <a:solidFill>
              <a:schemeClr val="accent4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37AAB2B-B906-7BA2-C441-858E454EDEAA}"/>
                </a:ext>
              </a:extLst>
            </p:cNvPr>
            <p:cNvSpPr/>
            <p:nvPr/>
          </p:nvSpPr>
          <p:spPr>
            <a:xfrm>
              <a:off x="8702565" y="1617115"/>
              <a:ext cx="1492469" cy="5232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kern="0" dirty="0">
                  <a:latin typeface="Courier New" panose="020703090202050204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User Data</a:t>
              </a:r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E01BFE9-55D1-0164-D836-13F92CA73C7F}"/>
                </a:ext>
              </a:extLst>
            </p:cNvPr>
            <p:cNvSpPr txBox="1"/>
            <p:nvPr/>
          </p:nvSpPr>
          <p:spPr>
            <a:xfrm>
              <a:off x="8046812" y="2573346"/>
              <a:ext cx="2803973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IN" kern="0" dirty="0">
                  <a:latin typeface="Courier New" panose="020703090202050204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Feature Engineering</a:t>
              </a:r>
              <a:endParaRPr lang="en-US" dirty="0"/>
            </a:p>
          </p:txBody>
        </p:sp>
        <p:sp>
          <p:nvSpPr>
            <p:cNvPr id="14" name="Snip Same-side Corner of Rectangle 13">
              <a:extLst>
                <a:ext uri="{FF2B5EF4-FFF2-40B4-BE49-F238E27FC236}">
                  <a16:creationId xmlns:a16="http://schemas.microsoft.com/office/drawing/2014/main" id="{E660FE69-4C2C-0A6A-CA86-4A28738021EA}"/>
                </a:ext>
              </a:extLst>
            </p:cNvPr>
            <p:cNvSpPr/>
            <p:nvPr/>
          </p:nvSpPr>
          <p:spPr>
            <a:xfrm>
              <a:off x="8918026" y="3375689"/>
              <a:ext cx="1061543" cy="1006366"/>
            </a:xfrm>
            <a:prstGeom prst="snip2Same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kern="0" dirty="0">
                  <a:latin typeface="Courier New" panose="020703090202050204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AI Model</a:t>
              </a:r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B05CF6E-C383-5422-2A7A-6FDE91DF5265}"/>
                </a:ext>
              </a:extLst>
            </p:cNvPr>
            <p:cNvSpPr txBox="1"/>
            <p:nvPr/>
          </p:nvSpPr>
          <p:spPr>
            <a:xfrm>
              <a:off x="8184669" y="4824551"/>
              <a:ext cx="2528256" cy="369332"/>
            </a:xfrm>
            <a:prstGeom prst="rect">
              <a:avLst/>
            </a:prstGeom>
            <a:solidFill>
              <a:srgbClr val="92D050"/>
            </a:solidFill>
          </p:spPr>
          <p:txBody>
            <a:bodyPr wrap="none" rtlCol="0">
              <a:spAutoFit/>
            </a:bodyPr>
            <a:lstStyle/>
            <a:p>
              <a:r>
                <a:rPr lang="en-IN" kern="0" dirty="0">
                  <a:latin typeface="Courier New" panose="020703090202050204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Credit Risk Score</a:t>
              </a:r>
              <a:endParaRPr lang="en-US" dirty="0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1C1D904-C755-421B-57F8-ECC85ED83F05}"/>
                </a:ext>
              </a:extLst>
            </p:cNvPr>
            <p:cNvCxnSpPr>
              <a:stCxn id="12" idx="2"/>
              <a:endCxn id="13" idx="0"/>
            </p:cNvCxnSpPr>
            <p:nvPr/>
          </p:nvCxnSpPr>
          <p:spPr>
            <a:xfrm flipH="1">
              <a:off x="9448799" y="2140335"/>
              <a:ext cx="1" cy="43301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2059BFD-CFB4-699A-86FA-86E950C6B4C4}"/>
                </a:ext>
              </a:extLst>
            </p:cNvPr>
            <p:cNvCxnSpPr>
              <a:stCxn id="13" idx="2"/>
            </p:cNvCxnSpPr>
            <p:nvPr/>
          </p:nvCxnSpPr>
          <p:spPr>
            <a:xfrm flipH="1">
              <a:off x="9448797" y="2942678"/>
              <a:ext cx="2" cy="48632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33BFE23-766C-1DE5-7B12-57F0A41349EA}"/>
                </a:ext>
              </a:extLst>
            </p:cNvPr>
            <p:cNvCxnSpPr>
              <a:stCxn id="14" idx="1"/>
              <a:endCxn id="17" idx="0"/>
            </p:cNvCxnSpPr>
            <p:nvPr/>
          </p:nvCxnSpPr>
          <p:spPr>
            <a:xfrm flipH="1">
              <a:off x="9448797" y="4382055"/>
              <a:ext cx="1" cy="4424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193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EFF2FB3-B904-2452-DBD4-84369BAE504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7087587" y="52551"/>
            <a:ext cx="5030844" cy="3306791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F3E7BD2-7A74-33EC-12F9-FDC9658CA1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2455" y="453828"/>
            <a:ext cx="9790565" cy="70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/>
              <a:t>🤖</a:t>
            </a:r>
            <a:r>
              <a:rPr lang="en-IN" dirty="0"/>
              <a:t>  </a:t>
            </a:r>
            <a:r>
              <a:rPr lang="en-IN" b="1" u="sng" dirty="0"/>
              <a:t>Feature Engineering &amp; Key Innovation</a:t>
            </a:r>
            <a:endParaRPr lang="en-IN" u="sn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A29D2B-2195-5200-974A-88858AB27C1F}"/>
              </a:ext>
            </a:extLst>
          </p:cNvPr>
          <p:cNvSpPr txBox="1"/>
          <p:nvPr/>
        </p:nvSpPr>
        <p:spPr>
          <a:xfrm>
            <a:off x="670033" y="4826675"/>
            <a:ext cx="56256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🚀</a:t>
            </a:r>
            <a:r>
              <a:rPr lang="en-IN" dirty="0"/>
              <a:t>  </a:t>
            </a:r>
            <a:r>
              <a:rPr lang="en-IN" b="1" dirty="0"/>
              <a:t>Key Innovation:</a:t>
            </a:r>
            <a:endParaRPr lang="en-IN" sz="1600" dirty="0"/>
          </a:p>
          <a:p>
            <a:pPr lvl="0"/>
            <a:r>
              <a:rPr lang="en-IN" b="1" dirty="0"/>
              <a:t>Seasonality-aware </a:t>
            </a:r>
            <a:r>
              <a:rPr lang="en-IN" b="1" dirty="0" err="1"/>
              <a:t>modeling</a:t>
            </a:r>
            <a:endParaRPr lang="en-IN" dirty="0"/>
          </a:p>
          <a:p>
            <a:pPr lvl="0"/>
            <a:r>
              <a:rPr lang="en-IN" dirty="0"/>
              <a:t>Differentiates:</a:t>
            </a:r>
          </a:p>
          <a:p>
            <a:pPr lvl="1"/>
            <a:r>
              <a:rPr lang="en-IN" dirty="0"/>
              <a:t>❌ random income fluctuations</a:t>
            </a:r>
          </a:p>
          <a:p>
            <a:pPr lvl="1"/>
            <a:r>
              <a:rPr lang="en-IN" dirty="0"/>
              <a:t>✅ predictable seasonal spikes</a:t>
            </a:r>
          </a:p>
          <a:p>
            <a:r>
              <a:rPr lang="en-IN" dirty="0"/>
              <a:t>👉 This prevents unfair rejection of seasonal earners like vendors and artisans.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9B54416-4AB4-149A-84BD-D6262D8DD65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096000" y="3452649"/>
            <a:ext cx="4943231" cy="3352800"/>
          </a:xfrm>
          <a:prstGeom prst="rect">
            <a:avLst/>
          </a:prstGeom>
        </p:spPr>
      </p:pic>
      <p:sp>
        <p:nvSpPr>
          <p:cNvPr id="17" name="Round Diagonal Corner of Rectangle 16">
            <a:extLst>
              <a:ext uri="{FF2B5EF4-FFF2-40B4-BE49-F238E27FC236}">
                <a16:creationId xmlns:a16="http://schemas.microsoft.com/office/drawing/2014/main" id="{9A74F929-E264-A3AE-B065-646E07FCFE72}"/>
              </a:ext>
            </a:extLst>
          </p:cNvPr>
          <p:cNvSpPr/>
          <p:nvPr/>
        </p:nvSpPr>
        <p:spPr>
          <a:xfrm>
            <a:off x="462455" y="1077884"/>
            <a:ext cx="6190593" cy="3748790"/>
          </a:xfrm>
          <a:prstGeom prst="round2DiagRect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6566CDE-644C-89D3-4A4C-7A1A1ADD6F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709319"/>
              </p:ext>
            </p:extLst>
          </p:nvPr>
        </p:nvGraphicFramePr>
        <p:xfrm>
          <a:off x="670034" y="1256560"/>
          <a:ext cx="5846380" cy="3352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46738">
                  <a:extLst>
                    <a:ext uri="{9D8B030D-6E8A-4147-A177-3AD203B41FA5}">
                      <a16:colId xmlns:a16="http://schemas.microsoft.com/office/drawing/2014/main" val="3602768034"/>
                    </a:ext>
                  </a:extLst>
                </a:gridCol>
                <a:gridCol w="2459421">
                  <a:extLst>
                    <a:ext uri="{9D8B030D-6E8A-4147-A177-3AD203B41FA5}">
                      <a16:colId xmlns:a16="http://schemas.microsoft.com/office/drawing/2014/main" val="2381687080"/>
                    </a:ext>
                  </a:extLst>
                </a:gridCol>
                <a:gridCol w="1240221">
                  <a:extLst>
                    <a:ext uri="{9D8B030D-6E8A-4147-A177-3AD203B41FA5}">
                      <a16:colId xmlns:a16="http://schemas.microsoft.com/office/drawing/2014/main" val="24085762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Feature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Meaning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Importance</a:t>
                      </a:r>
                      <a:endParaRPr lang="en-IN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719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bill_payment_score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Repayment discipline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0938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/>
                        <a:t>ecommerce_spend_ratio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Spending behavior pattern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7127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location_stability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User traceability &amp; fraud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3759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balance_norm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Financial strength &amp; liquidity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1506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job_stability_score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Income consistency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4005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avg_transaction_value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Financial activity 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6831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transaction_frequency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Banking engagement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47825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account_age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Long-term financial reliability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Low–Medium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6538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cash_vs_digital_ratio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Financial transparency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4207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loan_history_score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Past credit </a:t>
                      </a:r>
                      <a:r>
                        <a:rPr lang="en-IN" sz="1400" dirty="0" err="1"/>
                        <a:t>behavior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0320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3804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D59C1-2B5E-DAB0-ACE8-DBDAF37BC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137634" cy="1073315"/>
          </a:xfrm>
        </p:spPr>
        <p:txBody>
          <a:bodyPr/>
          <a:lstStyle/>
          <a:p>
            <a:r>
              <a:rPr lang="en-IN" b="1" dirty="0"/>
              <a:t>⚙️</a:t>
            </a:r>
            <a:r>
              <a:rPr lang="en-IN" dirty="0"/>
              <a:t>  </a:t>
            </a:r>
            <a:r>
              <a:rPr lang="en-IN" b="1" dirty="0"/>
              <a:t>Model Architecture &amp; Training</a:t>
            </a:r>
            <a:r>
              <a:rPr lang="en-IN" dirty="0"/>
              <a:t> </a:t>
            </a:r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44F1A2B-03DF-E682-B8A7-31ACDFCF3E16}"/>
              </a:ext>
            </a:extLst>
          </p:cNvPr>
          <p:cNvGrpSpPr/>
          <p:nvPr/>
        </p:nvGrpSpPr>
        <p:grpSpPr>
          <a:xfrm>
            <a:off x="396761" y="1449438"/>
            <a:ext cx="4364422" cy="5075430"/>
            <a:chOff x="838199" y="1438440"/>
            <a:chExt cx="4364422" cy="5075430"/>
          </a:xfrm>
        </p:grpSpPr>
        <p:sp>
          <p:nvSpPr>
            <p:cNvPr id="11" name="Round Same-side Corner of Rectangle 10">
              <a:extLst>
                <a:ext uri="{FF2B5EF4-FFF2-40B4-BE49-F238E27FC236}">
                  <a16:creationId xmlns:a16="http://schemas.microsoft.com/office/drawing/2014/main" id="{CB781B27-F429-B909-EB5F-43F93D9C84E4}"/>
                </a:ext>
              </a:extLst>
            </p:cNvPr>
            <p:cNvSpPr/>
            <p:nvPr/>
          </p:nvSpPr>
          <p:spPr>
            <a:xfrm>
              <a:off x="838200" y="3165645"/>
              <a:ext cx="4364421" cy="1621020"/>
            </a:xfrm>
            <a:prstGeom prst="round2Same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ound Same-side Corner of Rectangle 9">
              <a:extLst>
                <a:ext uri="{FF2B5EF4-FFF2-40B4-BE49-F238E27FC236}">
                  <a16:creationId xmlns:a16="http://schemas.microsoft.com/office/drawing/2014/main" id="{C5ECA3A7-65DA-77F5-A957-7F1769F61552}"/>
                </a:ext>
              </a:extLst>
            </p:cNvPr>
            <p:cNvSpPr/>
            <p:nvPr/>
          </p:nvSpPr>
          <p:spPr>
            <a:xfrm>
              <a:off x="838200" y="1438440"/>
              <a:ext cx="4364420" cy="1691810"/>
            </a:xfrm>
            <a:prstGeom prst="round2Same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D3A064E-BBA4-B481-D638-B6D7F9A8D81A}"/>
                </a:ext>
              </a:extLst>
            </p:cNvPr>
            <p:cNvSpPr txBox="1"/>
            <p:nvPr/>
          </p:nvSpPr>
          <p:spPr>
            <a:xfrm>
              <a:off x="838200" y="1438440"/>
              <a:ext cx="2490952" cy="16918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2000" b="1" kern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Models Used:</a:t>
              </a:r>
              <a:endPara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15000"/>
                </a:lnSpc>
                <a:spcAft>
                  <a:spcPts val="800"/>
                </a:spcAft>
                <a:buSzPts val="1000"/>
                <a:buFont typeface="Symbol" pitchFamily="2" charset="2"/>
                <a:buChar char=""/>
                <a:tabLst>
                  <a:tab pos="457200" algn="l"/>
                </a:tabLst>
              </a:pPr>
              <a:r>
                <a:rPr lang="en-IN" sz="1800" kern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Random Forest</a:t>
              </a:r>
              <a:endPara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15000"/>
                </a:lnSpc>
                <a:spcAft>
                  <a:spcPts val="800"/>
                </a:spcAft>
                <a:buSzPts val="1000"/>
                <a:buFont typeface="Symbol" pitchFamily="2" charset="2"/>
                <a:buChar char=""/>
                <a:tabLst>
                  <a:tab pos="457200" algn="l"/>
                </a:tabLst>
              </a:pPr>
              <a:r>
                <a:rPr lang="en-IN" sz="1800" kern="0" dirty="0" err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LightGBM</a:t>
              </a:r>
              <a:endPara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15000"/>
                </a:lnSpc>
                <a:spcAft>
                  <a:spcPts val="800"/>
                </a:spcAft>
                <a:buSzPts val="1000"/>
                <a:buFont typeface="Symbol" pitchFamily="2" charset="2"/>
                <a:buChar char=""/>
                <a:tabLst>
                  <a:tab pos="457200" algn="l"/>
                </a:tabLst>
              </a:pPr>
              <a:r>
                <a:rPr lang="en-IN" sz="1800" kern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Logistic Regression</a:t>
              </a:r>
              <a:endPara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BF65D21-6571-CAA2-35D3-920D563A2A74}"/>
                </a:ext>
              </a:extLst>
            </p:cNvPr>
            <p:cNvSpPr txBox="1"/>
            <p:nvPr/>
          </p:nvSpPr>
          <p:spPr>
            <a:xfrm>
              <a:off x="838200" y="3130250"/>
              <a:ext cx="4364421" cy="16564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lvl="0" indent="-342900">
                <a:lnSpc>
                  <a:spcPct val="115000"/>
                </a:lnSpc>
                <a:spcAft>
                  <a:spcPts val="800"/>
                </a:spcAft>
                <a:buSzPts val="1000"/>
                <a:buFont typeface="Symbol" pitchFamily="2" charset="2"/>
                <a:buChar char=""/>
                <a:tabLst>
                  <a:tab pos="457200" algn="l"/>
                </a:tabLst>
              </a:pPr>
              <a:r>
                <a:rPr lang="en-IN" b="1" kern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Ensemble Learning (Voting Classifier)</a:t>
              </a:r>
              <a:endParaRPr lang="en-IN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15000"/>
                </a:lnSpc>
                <a:spcAft>
                  <a:spcPts val="800"/>
                </a:spcAft>
                <a:buSzPts val="1000"/>
                <a:buFont typeface="Symbol" pitchFamily="2" charset="2"/>
                <a:buChar char=""/>
                <a:tabLst>
                  <a:tab pos="457200" algn="l"/>
                </a:tabLst>
              </a:pPr>
              <a:r>
                <a:rPr lang="en-IN" kern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Combines:</a:t>
              </a:r>
              <a:endParaRPr lang="en-IN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  <a:p>
              <a:pPr marL="742950" lvl="1" indent="-285750">
                <a:lnSpc>
                  <a:spcPct val="115000"/>
                </a:lnSpc>
                <a:spcAft>
                  <a:spcPts val="800"/>
                </a:spcAft>
                <a:buSzPts val="1000"/>
                <a:buFont typeface="Courier New" panose="02070309020205020404" pitchFamily="49" charset="0"/>
                <a:buChar char="o"/>
                <a:tabLst>
                  <a:tab pos="914400" algn="l"/>
                </a:tabLst>
              </a:pPr>
              <a:r>
                <a:rPr lang="en-IN" kern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accuracy (tree models)</a:t>
              </a:r>
              <a:endParaRPr lang="en-IN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  <a:p>
              <a:pPr marL="742950" lvl="1" indent="-285750">
                <a:lnSpc>
                  <a:spcPct val="115000"/>
                </a:lnSpc>
                <a:spcAft>
                  <a:spcPts val="800"/>
                </a:spcAft>
                <a:buSzPts val="1000"/>
                <a:buFont typeface="Courier New" panose="02070309020205020404" pitchFamily="49" charset="0"/>
                <a:buChar char="o"/>
                <a:tabLst>
                  <a:tab pos="914400" algn="l"/>
                </a:tabLst>
              </a:pPr>
              <a:r>
                <a:rPr lang="en-IN" kern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interpretability (logistic regression)</a:t>
              </a:r>
              <a:endParaRPr lang="en-IN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ound Same-side Corner of Rectangle 12">
              <a:extLst>
                <a:ext uri="{FF2B5EF4-FFF2-40B4-BE49-F238E27FC236}">
                  <a16:creationId xmlns:a16="http://schemas.microsoft.com/office/drawing/2014/main" id="{07DA9EFC-10D5-53F1-9C32-E09E85E08500}"/>
                </a:ext>
              </a:extLst>
            </p:cNvPr>
            <p:cNvSpPr/>
            <p:nvPr/>
          </p:nvSpPr>
          <p:spPr>
            <a:xfrm>
              <a:off x="838199" y="4822060"/>
              <a:ext cx="4364421" cy="1691810"/>
            </a:xfrm>
            <a:prstGeom prst="round2Same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1916B19-6F30-CD44-FBC0-B4D7E7308728}"/>
                </a:ext>
              </a:extLst>
            </p:cNvPr>
            <p:cNvSpPr txBox="1"/>
            <p:nvPr/>
          </p:nvSpPr>
          <p:spPr>
            <a:xfrm>
              <a:off x="838200" y="4786665"/>
              <a:ext cx="4364420" cy="16681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2000" b="1" kern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Key Design Choices:</a:t>
              </a:r>
              <a:endPara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15000"/>
                </a:lnSpc>
                <a:spcAft>
                  <a:spcPts val="800"/>
                </a:spcAft>
                <a:buSzPts val="1000"/>
                <a:buFont typeface="Symbol" pitchFamily="2" charset="2"/>
                <a:buChar char=""/>
                <a:tabLst>
                  <a:tab pos="457200" algn="l"/>
                </a:tabLst>
              </a:pPr>
              <a:r>
                <a:rPr lang="en-IN" sz="1800" kern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Class imbalance handled (important)</a:t>
              </a:r>
              <a:endPara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15000"/>
                </a:lnSpc>
                <a:spcAft>
                  <a:spcPts val="800"/>
                </a:spcAft>
                <a:buSzPts val="1000"/>
                <a:buFont typeface="Symbol" pitchFamily="2" charset="2"/>
                <a:buChar char=""/>
                <a:tabLst>
                  <a:tab pos="457200" algn="l"/>
                </a:tabLst>
              </a:pPr>
              <a:r>
                <a:rPr lang="en-IN" sz="1800" kern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Focus on minimizing </a:t>
              </a:r>
              <a:r>
                <a:rPr lang="en-IN" sz="1800" b="1" kern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false negatives</a:t>
              </a:r>
              <a:endPara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  <a:p>
              <a:pPr>
                <a:buNone/>
              </a:pPr>
              <a:r>
                <a:rPr lang="en-IN" sz="1800" kern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Explainable feature importance</a:t>
              </a:r>
              <a:r>
                <a:rPr lang="en-IN" dirty="0">
                  <a:effectLst/>
                </a:rPr>
                <a:t> </a:t>
              </a:r>
              <a:endParaRPr lang="en-US" dirty="0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2D867B72-EB8F-FF92-8194-E8F26C916242}"/>
              </a:ext>
            </a:extLst>
          </p:cNvPr>
          <p:cNvGrpSpPr/>
          <p:nvPr/>
        </p:nvGrpSpPr>
        <p:grpSpPr>
          <a:xfrm>
            <a:off x="4863663" y="1429149"/>
            <a:ext cx="7269216" cy="4990261"/>
            <a:chOff x="4863663" y="1429149"/>
            <a:chExt cx="7269216" cy="4990261"/>
          </a:xfrm>
        </p:grpSpPr>
        <p:pic>
          <p:nvPicPr>
            <p:cNvPr id="3074" name="Picture 2" descr="Random Forest Algorithm in Machine Learning - GeeksforGeeks">
              <a:extLst>
                <a:ext uri="{FF2B5EF4-FFF2-40B4-BE49-F238E27FC236}">
                  <a16:creationId xmlns:a16="http://schemas.microsoft.com/office/drawing/2014/main" id="{BD8B64B3-214B-FC3C-C347-EA131C3D19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3663" y="4422355"/>
              <a:ext cx="2793104" cy="19970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6" name="Picture 4" descr="LightGBM (Light Gradient Boosting Machine) - GeeksforGeeks">
              <a:extLst>
                <a:ext uri="{FF2B5EF4-FFF2-40B4-BE49-F238E27FC236}">
                  <a16:creationId xmlns:a16="http://schemas.microsoft.com/office/drawing/2014/main" id="{F45AFD70-D31F-C119-CE2D-2E6F83D8E66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508" t="49814"/>
            <a:stretch>
              <a:fillRect/>
            </a:stretch>
          </p:blipFill>
          <p:spPr bwMode="auto">
            <a:xfrm>
              <a:off x="6907791" y="3309452"/>
              <a:ext cx="3568527" cy="10005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80" name="Picture 8" descr="Logistic Regression in Machine Learning - GeeksforGeeks">
              <a:extLst>
                <a:ext uri="{FF2B5EF4-FFF2-40B4-BE49-F238E27FC236}">
                  <a16:creationId xmlns:a16="http://schemas.microsoft.com/office/drawing/2014/main" id="{63D810DD-0E90-1F62-D769-C94A6B23AB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0718" y="1429149"/>
              <a:ext cx="2962161" cy="14810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F262664-2CB4-63AD-7987-775052A8F692}"/>
              </a:ext>
            </a:extLst>
          </p:cNvPr>
          <p:cNvGrpSpPr/>
          <p:nvPr/>
        </p:nvGrpSpPr>
        <p:grpSpPr>
          <a:xfrm>
            <a:off x="5940972" y="1272214"/>
            <a:ext cx="5701863" cy="5366582"/>
            <a:chOff x="5940972" y="1272214"/>
            <a:chExt cx="5701863" cy="5366582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6014E093-7CF1-AFCF-1AAF-CF0641BB207B}"/>
                </a:ext>
              </a:extLst>
            </p:cNvPr>
            <p:cNvGrpSpPr/>
            <p:nvPr/>
          </p:nvGrpSpPr>
          <p:grpSpPr>
            <a:xfrm>
              <a:off x="7932682" y="4923563"/>
              <a:ext cx="1755231" cy="1715233"/>
              <a:chOff x="7932682" y="4923563"/>
              <a:chExt cx="1755231" cy="1715233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D406ED0-C2B7-5D31-32A7-F378B989CC3F}"/>
                  </a:ext>
                </a:extLst>
              </p:cNvPr>
              <p:cNvSpPr/>
              <p:nvPr/>
            </p:nvSpPr>
            <p:spPr>
              <a:xfrm>
                <a:off x="7932686" y="4923563"/>
                <a:ext cx="1755227" cy="744402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Ensemble Prediction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A6EBD5D-7E62-F4B0-D491-0ED3160C738D}"/>
                  </a:ext>
                </a:extLst>
              </p:cNvPr>
              <p:cNvSpPr/>
              <p:nvPr/>
            </p:nvSpPr>
            <p:spPr>
              <a:xfrm>
                <a:off x="7932682" y="5894394"/>
                <a:ext cx="1755227" cy="744402"/>
              </a:xfrm>
              <a:prstGeom prst="rect">
                <a:avLst/>
              </a:prstGeom>
              <a:solidFill>
                <a:srgbClr val="00C9AF">
                  <a:alpha val="92941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Ultimate Prediction</a:t>
                </a:r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883C5AB6-C19D-7908-273D-994B696E50D0}"/>
                </a:ext>
              </a:extLst>
            </p:cNvPr>
            <p:cNvGrpSpPr/>
            <p:nvPr/>
          </p:nvGrpSpPr>
          <p:grpSpPr>
            <a:xfrm>
              <a:off x="5940972" y="2848553"/>
              <a:ext cx="5701863" cy="1640247"/>
              <a:chOff x="5940972" y="2848553"/>
              <a:chExt cx="5701863" cy="1640247"/>
            </a:xfrm>
          </p:grpSpPr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3FBA5C9A-132A-A742-C04F-85A3F5872C0F}"/>
                  </a:ext>
                </a:extLst>
              </p:cNvPr>
              <p:cNvGrpSpPr/>
              <p:nvPr/>
            </p:nvGrpSpPr>
            <p:grpSpPr>
              <a:xfrm>
                <a:off x="5940973" y="2848553"/>
                <a:ext cx="5701862" cy="563396"/>
                <a:chOff x="5940973" y="2848553"/>
                <a:chExt cx="5701862" cy="563396"/>
              </a:xfrm>
              <a:solidFill>
                <a:schemeClr val="accent1">
                  <a:lumMod val="60000"/>
                  <a:lumOff val="40000"/>
                </a:schemeClr>
              </a:solidFill>
            </p:grpSpPr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997CEAC2-FC01-2AE2-8978-F32A49CC650C}"/>
                    </a:ext>
                  </a:extLst>
                </p:cNvPr>
                <p:cNvSpPr/>
                <p:nvPr/>
              </p:nvSpPr>
              <p:spPr>
                <a:xfrm>
                  <a:off x="5940973" y="2848553"/>
                  <a:ext cx="1755227" cy="563396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Random Forest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D987EC5F-B984-344B-1246-44F292EBA53B}"/>
                    </a:ext>
                  </a:extLst>
                </p:cNvPr>
                <p:cNvSpPr/>
                <p:nvPr/>
              </p:nvSpPr>
              <p:spPr>
                <a:xfrm>
                  <a:off x="9887608" y="2853067"/>
                  <a:ext cx="1755227" cy="55888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Logistic Regression</a:t>
                  </a:r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D75F45A1-4502-8C4C-64B1-FBF7300D2F66}"/>
                    </a:ext>
                  </a:extLst>
                </p:cNvPr>
                <p:cNvSpPr/>
                <p:nvPr/>
              </p:nvSpPr>
              <p:spPr>
                <a:xfrm>
                  <a:off x="7932684" y="2853067"/>
                  <a:ext cx="1755227" cy="55888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err="1"/>
                    <a:t>LightGBM</a:t>
                  </a:r>
                  <a:endParaRPr lang="en-US" dirty="0"/>
                </a:p>
              </p:txBody>
            </p:sp>
          </p:grpSp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1528C737-A8D0-2EB3-E98D-A58DFDB2062E}"/>
                  </a:ext>
                </a:extLst>
              </p:cNvPr>
              <p:cNvGrpSpPr/>
              <p:nvPr/>
            </p:nvGrpSpPr>
            <p:grpSpPr>
              <a:xfrm>
                <a:off x="5940972" y="3819383"/>
                <a:ext cx="5701862" cy="669417"/>
                <a:chOff x="5940972" y="3819383"/>
                <a:chExt cx="5701862" cy="669417"/>
              </a:xfrm>
            </p:grpSpPr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9CB433F1-42D9-C911-4545-9CE61EB6BE7E}"/>
                    </a:ext>
                  </a:extLst>
                </p:cNvPr>
                <p:cNvSpPr/>
                <p:nvPr/>
              </p:nvSpPr>
              <p:spPr>
                <a:xfrm>
                  <a:off x="7932683" y="3823899"/>
                  <a:ext cx="1755227" cy="664901"/>
                </a:xfrm>
                <a:prstGeom prst="ellipse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Prediction (Yes/NO)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C76B2903-65BC-7087-A38F-94D93C66F4F9}"/>
                    </a:ext>
                  </a:extLst>
                </p:cNvPr>
                <p:cNvSpPr/>
                <p:nvPr/>
              </p:nvSpPr>
              <p:spPr>
                <a:xfrm>
                  <a:off x="5940972" y="3819383"/>
                  <a:ext cx="1755227" cy="664901"/>
                </a:xfrm>
                <a:prstGeom prst="ellipse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Prediction (Yes/NO)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1DABC79-BAEC-1945-3AB5-CF2AF3DE7940}"/>
                    </a:ext>
                  </a:extLst>
                </p:cNvPr>
                <p:cNvSpPr/>
                <p:nvPr/>
              </p:nvSpPr>
              <p:spPr>
                <a:xfrm>
                  <a:off x="9887607" y="3823899"/>
                  <a:ext cx="1755227" cy="664901"/>
                </a:xfrm>
                <a:prstGeom prst="ellipse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Prediction (Yes/NO)</a:t>
                  </a:r>
                </a:p>
              </p:txBody>
            </p:sp>
          </p:grpSp>
        </p:grp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A49609D-FD62-87C9-993C-2B1D3CC180B8}"/>
                </a:ext>
              </a:extLst>
            </p:cNvPr>
            <p:cNvCxnSpPr>
              <a:cxnSpLocks/>
              <a:stCxn id="15" idx="2"/>
              <a:endCxn id="19" idx="0"/>
            </p:cNvCxnSpPr>
            <p:nvPr/>
          </p:nvCxnSpPr>
          <p:spPr>
            <a:xfrm flipH="1">
              <a:off x="8810296" y="5667965"/>
              <a:ext cx="4" cy="22642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F540D48-64C1-17B6-D5B2-FC153E7940BA}"/>
                </a:ext>
              </a:extLst>
            </p:cNvPr>
            <p:cNvCxnSpPr>
              <a:cxnSpLocks/>
              <a:stCxn id="14" idx="2"/>
              <a:endCxn id="26" idx="0"/>
            </p:cNvCxnSpPr>
            <p:nvPr/>
          </p:nvCxnSpPr>
          <p:spPr>
            <a:xfrm flipH="1">
              <a:off x="6818586" y="3411949"/>
              <a:ext cx="1" cy="40743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D3A7E842-D2D4-3DAB-30AF-ADD119FC09DE}"/>
                </a:ext>
              </a:extLst>
            </p:cNvPr>
            <p:cNvCxnSpPr>
              <a:cxnSpLocks/>
              <a:stCxn id="17" idx="2"/>
              <a:endCxn id="20" idx="0"/>
            </p:cNvCxnSpPr>
            <p:nvPr/>
          </p:nvCxnSpPr>
          <p:spPr>
            <a:xfrm flipH="1">
              <a:off x="8810297" y="3411948"/>
              <a:ext cx="1" cy="41195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65B62EB2-8E29-4D20-861E-43723BE008B4}"/>
                </a:ext>
              </a:extLst>
            </p:cNvPr>
            <p:cNvCxnSpPr>
              <a:cxnSpLocks/>
              <a:stCxn id="16" idx="2"/>
              <a:endCxn id="27" idx="0"/>
            </p:cNvCxnSpPr>
            <p:nvPr/>
          </p:nvCxnSpPr>
          <p:spPr>
            <a:xfrm flipH="1">
              <a:off x="10765221" y="3411948"/>
              <a:ext cx="1" cy="41195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Elbow Connector 39">
              <a:extLst>
                <a:ext uri="{FF2B5EF4-FFF2-40B4-BE49-F238E27FC236}">
                  <a16:creationId xmlns:a16="http://schemas.microsoft.com/office/drawing/2014/main" id="{652BCC57-4BA2-377F-D97E-E6905EFEF3E7}"/>
                </a:ext>
              </a:extLst>
            </p:cNvPr>
            <p:cNvCxnSpPr>
              <a:stCxn id="26" idx="4"/>
              <a:endCxn id="15" idx="0"/>
            </p:cNvCxnSpPr>
            <p:nvPr/>
          </p:nvCxnSpPr>
          <p:spPr>
            <a:xfrm rot="16200000" flipH="1">
              <a:off x="7594804" y="3708066"/>
              <a:ext cx="439279" cy="1991714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Elbow Connector 41">
              <a:extLst>
                <a:ext uri="{FF2B5EF4-FFF2-40B4-BE49-F238E27FC236}">
                  <a16:creationId xmlns:a16="http://schemas.microsoft.com/office/drawing/2014/main" id="{B8C984AB-0BF4-7D1B-7819-FDE918CDCDD0}"/>
                </a:ext>
              </a:extLst>
            </p:cNvPr>
            <p:cNvCxnSpPr>
              <a:stCxn id="20" idx="4"/>
              <a:endCxn id="15" idx="0"/>
            </p:cNvCxnSpPr>
            <p:nvPr/>
          </p:nvCxnSpPr>
          <p:spPr>
            <a:xfrm rot="16200000" flipH="1">
              <a:off x="8592917" y="4706179"/>
              <a:ext cx="434763" cy="3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Elbow Connector 43">
              <a:extLst>
                <a:ext uri="{FF2B5EF4-FFF2-40B4-BE49-F238E27FC236}">
                  <a16:creationId xmlns:a16="http://schemas.microsoft.com/office/drawing/2014/main" id="{61A21747-4DA1-7BC7-D1F6-71843EF83BAD}"/>
                </a:ext>
              </a:extLst>
            </p:cNvPr>
            <p:cNvCxnSpPr>
              <a:stCxn id="27" idx="4"/>
              <a:endCxn id="15" idx="0"/>
            </p:cNvCxnSpPr>
            <p:nvPr/>
          </p:nvCxnSpPr>
          <p:spPr>
            <a:xfrm rot="5400000">
              <a:off x="9570380" y="3728721"/>
              <a:ext cx="434763" cy="1954921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CB71B296-B368-4E0D-7C52-44021A576F83}"/>
                </a:ext>
              </a:extLst>
            </p:cNvPr>
            <p:cNvGrpSpPr/>
            <p:nvPr/>
          </p:nvGrpSpPr>
          <p:grpSpPr>
            <a:xfrm>
              <a:off x="6479625" y="1272214"/>
              <a:ext cx="4624555" cy="1178454"/>
              <a:chOff x="6479625" y="1272214"/>
              <a:chExt cx="4624555" cy="1178454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04BF89D-4A0C-15AB-7619-580518A662EA}"/>
                  </a:ext>
                </a:extLst>
              </p:cNvPr>
              <p:cNvSpPr/>
              <p:nvPr/>
            </p:nvSpPr>
            <p:spPr>
              <a:xfrm>
                <a:off x="7932681" y="1272214"/>
                <a:ext cx="1755227" cy="424502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Training Data</a:t>
                </a:r>
              </a:p>
            </p:txBody>
          </p: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6FA23923-4AD2-15DD-9ED0-491DCA291186}"/>
                  </a:ext>
                </a:extLst>
              </p:cNvPr>
              <p:cNvGrpSpPr/>
              <p:nvPr/>
            </p:nvGrpSpPr>
            <p:grpSpPr>
              <a:xfrm>
                <a:off x="6479625" y="2127574"/>
                <a:ext cx="4624555" cy="323094"/>
                <a:chOff x="6479625" y="2127574"/>
                <a:chExt cx="4624555" cy="323094"/>
              </a:xfrm>
            </p:grpSpPr>
            <p:sp>
              <p:nvSpPr>
                <p:cNvPr id="55" name="Rounded Rectangle 54">
                  <a:extLst>
                    <a:ext uri="{FF2B5EF4-FFF2-40B4-BE49-F238E27FC236}">
                      <a16:creationId xmlns:a16="http://schemas.microsoft.com/office/drawing/2014/main" id="{DB92993C-D23A-63D3-6D6E-20B6858F0FAA}"/>
                    </a:ext>
                  </a:extLst>
                </p:cNvPr>
                <p:cNvSpPr/>
                <p:nvPr/>
              </p:nvSpPr>
              <p:spPr>
                <a:xfrm>
                  <a:off x="6479625" y="2127574"/>
                  <a:ext cx="1216574" cy="319189"/>
                </a:xfrm>
                <a:prstGeom prst="round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Subset 1</a:t>
                  </a:r>
                </a:p>
              </p:txBody>
            </p:sp>
            <p:sp>
              <p:nvSpPr>
                <p:cNvPr id="56" name="Rounded Rectangle 55">
                  <a:extLst>
                    <a:ext uri="{FF2B5EF4-FFF2-40B4-BE49-F238E27FC236}">
                      <a16:creationId xmlns:a16="http://schemas.microsoft.com/office/drawing/2014/main" id="{3844B517-34B6-0466-F2EC-49A29B56BEC6}"/>
                    </a:ext>
                  </a:extLst>
                </p:cNvPr>
                <p:cNvSpPr/>
                <p:nvPr/>
              </p:nvSpPr>
              <p:spPr>
                <a:xfrm>
                  <a:off x="9887607" y="2127574"/>
                  <a:ext cx="1216573" cy="319189"/>
                </a:xfrm>
                <a:prstGeom prst="round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Subset 3</a:t>
                  </a:r>
                </a:p>
              </p:txBody>
            </p:sp>
            <p:sp>
              <p:nvSpPr>
                <p:cNvPr id="57" name="Rounded Rectangle 56">
                  <a:extLst>
                    <a:ext uri="{FF2B5EF4-FFF2-40B4-BE49-F238E27FC236}">
                      <a16:creationId xmlns:a16="http://schemas.microsoft.com/office/drawing/2014/main" id="{0E3006E9-F658-8A6F-2B4E-28F43B1585FD}"/>
                    </a:ext>
                  </a:extLst>
                </p:cNvPr>
                <p:cNvSpPr/>
                <p:nvPr/>
              </p:nvSpPr>
              <p:spPr>
                <a:xfrm>
                  <a:off x="8202008" y="2131479"/>
                  <a:ext cx="1216574" cy="319189"/>
                </a:xfrm>
                <a:prstGeom prst="round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Subset 2</a:t>
                  </a:r>
                </a:p>
              </p:txBody>
            </p:sp>
          </p:grpSp>
        </p:grpSp>
        <p:cxnSp>
          <p:nvCxnSpPr>
            <p:cNvPr id="63" name="Elbow Connector 62">
              <a:extLst>
                <a:ext uri="{FF2B5EF4-FFF2-40B4-BE49-F238E27FC236}">
                  <a16:creationId xmlns:a16="http://schemas.microsoft.com/office/drawing/2014/main" id="{DF8F9F25-E3E2-C6F3-D285-482F5BC70F49}"/>
                </a:ext>
              </a:extLst>
            </p:cNvPr>
            <p:cNvCxnSpPr>
              <a:stCxn id="18" idx="2"/>
              <a:endCxn id="55" idx="0"/>
            </p:cNvCxnSpPr>
            <p:nvPr/>
          </p:nvCxnSpPr>
          <p:spPr>
            <a:xfrm rot="5400000">
              <a:off x="7733675" y="1050954"/>
              <a:ext cx="430858" cy="1722383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Elbow Connector 64">
              <a:extLst>
                <a:ext uri="{FF2B5EF4-FFF2-40B4-BE49-F238E27FC236}">
                  <a16:creationId xmlns:a16="http://schemas.microsoft.com/office/drawing/2014/main" id="{CDBE86BA-8A44-DF8E-8011-5F7A1D53A7C4}"/>
                </a:ext>
              </a:extLst>
            </p:cNvPr>
            <p:cNvCxnSpPr>
              <a:stCxn id="18" idx="2"/>
              <a:endCxn id="56" idx="0"/>
            </p:cNvCxnSpPr>
            <p:nvPr/>
          </p:nvCxnSpPr>
          <p:spPr>
            <a:xfrm rot="16200000" flipH="1">
              <a:off x="9437665" y="1069345"/>
              <a:ext cx="430858" cy="1685599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Elbow Connector 66">
              <a:extLst>
                <a:ext uri="{FF2B5EF4-FFF2-40B4-BE49-F238E27FC236}">
                  <a16:creationId xmlns:a16="http://schemas.microsoft.com/office/drawing/2014/main" id="{C15C1637-30AB-7101-6E85-3DF37DBE3F27}"/>
                </a:ext>
              </a:extLst>
            </p:cNvPr>
            <p:cNvCxnSpPr>
              <a:stCxn id="18" idx="2"/>
              <a:endCxn id="57" idx="0"/>
            </p:cNvCxnSpPr>
            <p:nvPr/>
          </p:nvCxnSpPr>
          <p:spPr>
            <a:xfrm rot="5400000">
              <a:off x="8592914" y="1914097"/>
              <a:ext cx="434763" cy="12700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urved Connector 73">
              <a:extLst>
                <a:ext uri="{FF2B5EF4-FFF2-40B4-BE49-F238E27FC236}">
                  <a16:creationId xmlns:a16="http://schemas.microsoft.com/office/drawing/2014/main" id="{E2C2C2CA-0216-A9FC-148D-F06800F30D04}"/>
                </a:ext>
              </a:extLst>
            </p:cNvPr>
            <p:cNvCxnSpPr>
              <a:stCxn id="55" idx="2"/>
              <a:endCxn id="14" idx="0"/>
            </p:cNvCxnSpPr>
            <p:nvPr/>
          </p:nvCxnSpPr>
          <p:spPr>
            <a:xfrm rot="5400000">
              <a:off x="6752355" y="2512996"/>
              <a:ext cx="401790" cy="269325"/>
            </a:xfrm>
            <a:prstGeom prst="curved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urved Connector 75">
              <a:extLst>
                <a:ext uri="{FF2B5EF4-FFF2-40B4-BE49-F238E27FC236}">
                  <a16:creationId xmlns:a16="http://schemas.microsoft.com/office/drawing/2014/main" id="{CEED44CA-37F0-6F80-E78F-5AAC22F6709B}"/>
                </a:ext>
              </a:extLst>
            </p:cNvPr>
            <p:cNvCxnSpPr>
              <a:stCxn id="57" idx="2"/>
              <a:endCxn id="17" idx="0"/>
            </p:cNvCxnSpPr>
            <p:nvPr/>
          </p:nvCxnSpPr>
          <p:spPr>
            <a:xfrm rot="16200000" flipH="1">
              <a:off x="8609097" y="2651865"/>
              <a:ext cx="402399" cy="3"/>
            </a:xfrm>
            <a:prstGeom prst="curved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urved Connector 77">
              <a:extLst>
                <a:ext uri="{FF2B5EF4-FFF2-40B4-BE49-F238E27FC236}">
                  <a16:creationId xmlns:a16="http://schemas.microsoft.com/office/drawing/2014/main" id="{57C2A8A9-B0BF-F446-4D14-C281F0F4AC5D}"/>
                </a:ext>
              </a:extLst>
            </p:cNvPr>
            <p:cNvCxnSpPr>
              <a:stCxn id="56" idx="2"/>
              <a:endCxn id="16" idx="0"/>
            </p:cNvCxnSpPr>
            <p:nvPr/>
          </p:nvCxnSpPr>
          <p:spPr>
            <a:xfrm rot="16200000" flipH="1">
              <a:off x="10427406" y="2515251"/>
              <a:ext cx="406304" cy="269328"/>
            </a:xfrm>
            <a:prstGeom prst="curved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62406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2CFC4F06-E243-58BE-3BAF-DE0DBF1EBBE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6741177" y="174633"/>
            <a:ext cx="5270500" cy="3340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29752F-DC5D-4E49-1B2C-D34A6A3E1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828" y="223408"/>
            <a:ext cx="10515600" cy="1325563"/>
          </a:xfrm>
        </p:spPr>
        <p:txBody>
          <a:bodyPr/>
          <a:lstStyle/>
          <a:p>
            <a:r>
              <a:rPr lang="en-IN" b="1" dirty="0"/>
              <a:t>📊</a:t>
            </a:r>
            <a:r>
              <a:rPr lang="en-IN" dirty="0"/>
              <a:t>  </a:t>
            </a:r>
            <a:r>
              <a:rPr lang="en-IN" b="1" dirty="0"/>
              <a:t>Performance &amp; Impact</a:t>
            </a:r>
            <a:r>
              <a:rPr lang="en-IN" dirty="0"/>
              <a:t> </a:t>
            </a: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135F9A2-40F3-C619-11FE-8B10A3C633BA}"/>
              </a:ext>
            </a:extLst>
          </p:cNvPr>
          <p:cNvGrpSpPr/>
          <p:nvPr/>
        </p:nvGrpSpPr>
        <p:grpSpPr>
          <a:xfrm>
            <a:off x="704189" y="1597747"/>
            <a:ext cx="6230011" cy="5167842"/>
            <a:chOff x="704189" y="1597747"/>
            <a:chExt cx="6230011" cy="5167842"/>
          </a:xfrm>
        </p:grpSpPr>
        <p:sp>
          <p:nvSpPr>
            <p:cNvPr id="10" name="Snip Single Corner of Rectangle 9">
              <a:extLst>
                <a:ext uri="{FF2B5EF4-FFF2-40B4-BE49-F238E27FC236}">
                  <a16:creationId xmlns:a16="http://schemas.microsoft.com/office/drawing/2014/main" id="{1B13A4E2-AEE0-5269-D1A4-2975B5B96648}"/>
                </a:ext>
              </a:extLst>
            </p:cNvPr>
            <p:cNvSpPr/>
            <p:nvPr/>
          </p:nvSpPr>
          <p:spPr>
            <a:xfrm flipH="1">
              <a:off x="704191" y="1597747"/>
              <a:ext cx="4887311" cy="1691809"/>
            </a:xfrm>
            <a:prstGeom prst="snip1Rect">
              <a:avLst/>
            </a:prstGeom>
            <a:gradFill flip="none" rotWithShape="1">
              <a:gsLst>
                <a:gs pos="0">
                  <a:schemeClr val="bg2">
                    <a:lumMod val="75000"/>
                    <a:lumOff val="2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lumOff val="2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lumOff val="25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nip Single Corner of Rectangle 10">
              <a:extLst>
                <a:ext uri="{FF2B5EF4-FFF2-40B4-BE49-F238E27FC236}">
                  <a16:creationId xmlns:a16="http://schemas.microsoft.com/office/drawing/2014/main" id="{EA173585-AF1B-170C-9EB2-5929FCC0ECA5}"/>
                </a:ext>
              </a:extLst>
            </p:cNvPr>
            <p:cNvSpPr/>
            <p:nvPr/>
          </p:nvSpPr>
          <p:spPr>
            <a:xfrm flipH="1">
              <a:off x="704190" y="3335763"/>
              <a:ext cx="4887311" cy="1691809"/>
            </a:xfrm>
            <a:prstGeom prst="snip1Rect">
              <a:avLst/>
            </a:prstGeom>
            <a:gradFill flip="none" rotWithShape="1">
              <a:gsLst>
                <a:gs pos="0">
                  <a:schemeClr val="bg2">
                    <a:lumMod val="50000"/>
                    <a:lumOff val="50000"/>
                    <a:shade val="30000"/>
                    <a:satMod val="115000"/>
                  </a:schemeClr>
                </a:gs>
                <a:gs pos="50000">
                  <a:schemeClr val="bg2">
                    <a:lumMod val="50000"/>
                    <a:lumOff val="50000"/>
                    <a:shade val="67500"/>
                    <a:satMod val="115000"/>
                  </a:schemeClr>
                </a:gs>
                <a:gs pos="100000">
                  <a:schemeClr val="bg2">
                    <a:lumMod val="50000"/>
                    <a:lumOff val="5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Snip Single Corner of Rectangle 11">
              <a:extLst>
                <a:ext uri="{FF2B5EF4-FFF2-40B4-BE49-F238E27FC236}">
                  <a16:creationId xmlns:a16="http://schemas.microsoft.com/office/drawing/2014/main" id="{5C7E3AA7-3A2E-190F-9F3D-1CA4B829CE9A}"/>
                </a:ext>
              </a:extLst>
            </p:cNvPr>
            <p:cNvSpPr/>
            <p:nvPr/>
          </p:nvSpPr>
          <p:spPr>
            <a:xfrm flipH="1">
              <a:off x="704189" y="5073779"/>
              <a:ext cx="4887311" cy="1691809"/>
            </a:xfrm>
            <a:prstGeom prst="snip1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2C43A7A-6AAF-AD02-A5F5-31A0ED55DCF1}"/>
                </a:ext>
              </a:extLst>
            </p:cNvPr>
            <p:cNvSpPr txBox="1"/>
            <p:nvPr/>
          </p:nvSpPr>
          <p:spPr>
            <a:xfrm>
              <a:off x="838200" y="1597748"/>
              <a:ext cx="6096000" cy="16918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b="1" dirty="0"/>
                <a:t>📊</a:t>
              </a:r>
              <a:r>
                <a:rPr lang="en-IN" sz="2000" dirty="0"/>
                <a:t>  </a:t>
              </a:r>
              <a:r>
                <a:rPr lang="en-IN" sz="2000" b="1" kern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Model Performance:</a:t>
              </a:r>
              <a:endPara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15000"/>
                </a:lnSpc>
                <a:spcAft>
                  <a:spcPts val="800"/>
                </a:spcAft>
                <a:buSzPts val="1000"/>
                <a:buFont typeface="Symbol" pitchFamily="2" charset="2"/>
                <a:buChar char=""/>
                <a:tabLst>
                  <a:tab pos="457200" algn="l"/>
                </a:tabLst>
              </a:pPr>
              <a:r>
                <a:rPr lang="en-IN" sz="1800" kern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Accuracy: </a:t>
              </a:r>
              <a:r>
                <a:rPr lang="en-IN" sz="1800" b="1" kern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98%</a:t>
              </a:r>
              <a:endPara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15000"/>
                </a:lnSpc>
                <a:spcAft>
                  <a:spcPts val="800"/>
                </a:spcAft>
                <a:buSzPts val="1000"/>
                <a:buFont typeface="Symbol" pitchFamily="2" charset="2"/>
                <a:buChar char=""/>
                <a:tabLst>
                  <a:tab pos="457200" algn="l"/>
                </a:tabLst>
              </a:pPr>
              <a:r>
                <a:rPr lang="en-IN" sz="1800" kern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Recall (risky users): </a:t>
              </a:r>
              <a:r>
                <a:rPr lang="en-IN" sz="1800" b="1" kern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96%</a:t>
              </a:r>
              <a:endPara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15000"/>
                </a:lnSpc>
                <a:spcAft>
                  <a:spcPts val="800"/>
                </a:spcAft>
                <a:buSzPts val="1000"/>
                <a:buFont typeface="Symbol" pitchFamily="2" charset="2"/>
                <a:buChar char=""/>
                <a:tabLst>
                  <a:tab pos="457200" algn="l"/>
                </a:tabLst>
              </a:pPr>
              <a:r>
                <a:rPr lang="en-IN" sz="1800" kern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High precision &amp; reliability</a:t>
              </a:r>
              <a:endPara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A38283-7B0C-D5C7-813D-57C733D81803}"/>
                </a:ext>
              </a:extLst>
            </p:cNvPr>
            <p:cNvSpPr txBox="1"/>
            <p:nvPr/>
          </p:nvSpPr>
          <p:spPr>
            <a:xfrm>
              <a:off x="838200" y="3381969"/>
              <a:ext cx="6096000" cy="16918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2000" b="1" kern="0" dirty="0">
                  <a:effectLst/>
                  <a:latin typeface="Apple Color Emoji" pitchFamily="2" charset="0"/>
                  <a:ea typeface="Times New Roman" panose="02020603050405020304" pitchFamily="18" charset="0"/>
                  <a:cs typeface="Apple Color Emoji" pitchFamily="2" charset="0"/>
                </a:rPr>
                <a:t>📈</a:t>
              </a:r>
              <a:r>
                <a:rPr lang="en-IN" sz="2000" b="1" kern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Key Insights:</a:t>
              </a:r>
              <a:endPara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15000"/>
                </a:lnSpc>
                <a:spcAft>
                  <a:spcPts val="800"/>
                </a:spcAft>
                <a:buSzPts val="1000"/>
                <a:buFont typeface="Symbol" pitchFamily="2" charset="2"/>
                <a:buChar char=""/>
                <a:tabLst>
                  <a:tab pos="457200" algn="l"/>
                </a:tabLst>
              </a:pPr>
              <a:r>
                <a:rPr lang="en-IN" sz="1800" kern="0" dirty="0" err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Behavioral</a:t>
              </a:r>
              <a:r>
                <a:rPr lang="en-IN" sz="1800" kern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features dominate</a:t>
              </a:r>
              <a:endPara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15000"/>
                </a:lnSpc>
                <a:spcAft>
                  <a:spcPts val="800"/>
                </a:spcAft>
                <a:buSzPts val="1000"/>
                <a:buFont typeface="Symbol" pitchFamily="2" charset="2"/>
                <a:buChar char=""/>
                <a:tabLst>
                  <a:tab pos="457200" algn="l"/>
                </a:tabLst>
              </a:pPr>
              <a:r>
                <a:rPr lang="en-IN" sz="1800" kern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Seasonal </a:t>
              </a:r>
              <a:r>
                <a:rPr lang="en-IN" sz="1800" kern="0" dirty="0" err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modeling</a:t>
              </a:r>
              <a:r>
                <a:rPr lang="en-IN" sz="1800" kern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improves fairness</a:t>
              </a:r>
              <a:endPara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15000"/>
                </a:lnSpc>
                <a:spcAft>
                  <a:spcPts val="800"/>
                </a:spcAft>
                <a:buSzPts val="1000"/>
                <a:buFont typeface="Symbol" pitchFamily="2" charset="2"/>
                <a:buChar char=""/>
                <a:tabLst>
                  <a:tab pos="457200" algn="l"/>
                </a:tabLst>
              </a:pPr>
              <a:r>
                <a:rPr lang="en-IN" sz="1800" kern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Strong performance on imbalanced data</a:t>
              </a:r>
              <a:endPara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8F0629F-2FFB-7514-0C67-843189D95ABB}"/>
                </a:ext>
              </a:extLst>
            </p:cNvPr>
            <p:cNvSpPr txBox="1"/>
            <p:nvPr/>
          </p:nvSpPr>
          <p:spPr>
            <a:xfrm>
              <a:off x="838200" y="5073779"/>
              <a:ext cx="6096000" cy="16918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2000" b="1" kern="0" dirty="0">
                  <a:effectLst/>
                  <a:latin typeface="Apple Color Emoji" pitchFamily="2" charset="0"/>
                  <a:ea typeface="Times New Roman" panose="02020603050405020304" pitchFamily="18" charset="0"/>
                  <a:cs typeface="Apple Color Emoji" pitchFamily="2" charset="0"/>
                </a:rPr>
                <a:t>🌍</a:t>
              </a:r>
              <a:r>
                <a:rPr lang="en-IN" sz="2000" b="1" kern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 Impact:</a:t>
              </a:r>
              <a:endPara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15000"/>
                </a:lnSpc>
                <a:spcAft>
                  <a:spcPts val="800"/>
                </a:spcAft>
                <a:buSzPts val="1000"/>
                <a:buFont typeface="Symbol" pitchFamily="2" charset="2"/>
                <a:buChar char=""/>
                <a:tabLst>
                  <a:tab pos="457200" algn="l"/>
                </a:tabLst>
              </a:pPr>
              <a:r>
                <a:rPr lang="en-IN" sz="1800" kern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Enables credit access for underserved users</a:t>
              </a:r>
              <a:endPara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15000"/>
                </a:lnSpc>
                <a:spcAft>
                  <a:spcPts val="800"/>
                </a:spcAft>
                <a:buSzPts val="1000"/>
                <a:buFont typeface="Symbol" pitchFamily="2" charset="2"/>
                <a:buChar char=""/>
                <a:tabLst>
                  <a:tab pos="457200" algn="l"/>
                </a:tabLst>
              </a:pPr>
              <a:r>
                <a:rPr lang="en-IN" sz="1800" kern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Reduces NPA risk for banks</a:t>
              </a:r>
              <a:endPara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15000"/>
                </a:lnSpc>
                <a:spcAft>
                  <a:spcPts val="800"/>
                </a:spcAft>
                <a:buSzPts val="1000"/>
                <a:buFont typeface="Symbol" pitchFamily="2" charset="2"/>
                <a:buChar char=""/>
                <a:tabLst>
                  <a:tab pos="457200" algn="l"/>
                </a:tabLst>
              </a:pPr>
              <a:r>
                <a:rPr lang="en-IN" sz="1800" kern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Supports financial inclusion</a:t>
              </a:r>
              <a:endPara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67C3F68E-AB0B-5FF0-6849-DE87F48B951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5954932" y="3537836"/>
            <a:ext cx="3948397" cy="325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313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138</TotalTime>
  <Words>327</Words>
  <Application>Microsoft Macintosh PowerPoint</Application>
  <PresentationFormat>Widescreen</PresentationFormat>
  <Paragraphs>92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AkayaKanadaka</vt:lpstr>
      <vt:lpstr>Apple Color Emoji</vt:lpstr>
      <vt:lpstr>Aptos</vt:lpstr>
      <vt:lpstr>Aptos Display</vt:lpstr>
      <vt:lpstr>Arial</vt:lpstr>
      <vt:lpstr>Ayuthaya</vt:lpstr>
      <vt:lpstr>Courier New</vt:lpstr>
      <vt:lpstr>Symbol</vt:lpstr>
      <vt:lpstr>Times New Roman</vt:lpstr>
      <vt:lpstr>Office Theme</vt:lpstr>
      <vt:lpstr>AI Approach: Behavioral &amp; Alternative Credit Signals</vt:lpstr>
      <vt:lpstr>🤖  Feature Engineering &amp; Key Innovation</vt:lpstr>
      <vt:lpstr>⚙️  Model Architecture &amp; Training </vt:lpstr>
      <vt:lpstr>📊  Performance &amp; Impact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Twishamp Mandal</dc:creator>
  <cp:lastModifiedBy>Twishamp Mandal</cp:lastModifiedBy>
  <cp:revision>2</cp:revision>
  <dcterms:created xsi:type="dcterms:W3CDTF">2026-04-29T17:22:28Z</dcterms:created>
  <dcterms:modified xsi:type="dcterms:W3CDTF">2026-04-29T19:40:29Z</dcterms:modified>
</cp:coreProperties>
</file>